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solidFill>
            <a:srgbClr val="0F172A"/>
          </a:solidFill>
          <a:ln w="19050">
            <a:solidFill>
              <a:srgbClr val="00F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6400" b="1">
                <a:solidFill>
                  <a:srgbClr val="00FF96"/>
                </a:solidFill>
                <a:latin typeface="Impact"/>
              </a:defRPr>
            </a:pPr>
            <a:r>
              <a:t>MULE SENTINEL</a:t>
            </a:r>
          </a:p>
          <a:p>
            <a:pPr algn="l">
              <a:spcAft>
                <a:spcPts val="300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CYBER FORENSICS HUB &amp; MONEY MULING DETECTION ENGINE</a:t>
            </a:r>
          </a:p>
          <a:p>
            <a:pPr algn="l">
              <a:defRPr sz="1500">
                <a:solidFill>
                  <a:srgbClr val="A0AEC0"/>
                </a:solidFill>
                <a:latin typeface="Segoe UI"/>
              </a:defRPr>
            </a:pPr>
            <a:r>
              <a:t>Real-Time Cyber Financial Intelligence Platform to Track, Analyze, and Provisionally Freeze Laundering Networks.</a:t>
            </a:r>
          </a:p>
          <a:p>
            <a:br/>
            <a:br/>
            <a:pPr algn="l">
              <a:defRPr sz="1200" b="1">
                <a:solidFill>
                  <a:srgbClr val="00B9FF"/>
                </a:solidFill>
                <a:latin typeface="Courier New"/>
              </a:defRPr>
            </a:pPr>
            <a:r>
              <a:t>FORENSIC OPERATIONS INTERACTIVE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00FF96"/>
                </a:solidFill>
                <a:latin typeface="Segoe UI"/>
              </a:defRPr>
            </a:pPr>
            <a:r>
              <a:t>THE MONEY MULING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91440" cy="548640"/>
          </a:xfrm>
          <a:prstGeom prst="rect">
            <a:avLst/>
          </a:prstGeom>
          <a:solidFill>
            <a:srgbClr val="00FF96"/>
          </a:solidFill>
          <a:ln>
            <a:solidFill>
              <a:srgbClr val="00F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00B9FF"/>
                </a:solidFill>
                <a:latin typeface="Segoe UI"/>
              </a:defRPr>
            </a:pPr>
            <a:r>
              <a:t>THE EVOLUTION OF LAUNDERING</a:t>
            </a:r>
          </a:p>
          <a:p>
            <a:pPr>
              <a:spcAft>
                <a:spcPts val="15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Traditional financial detection tools struggle to adapt as money muling scales into coordinated, automated operations. Modern evasion techniques exploit complex routing networks to bypass conventional limits:</a:t>
            </a:r>
          </a:p>
          <a:p>
            <a:pPr>
              <a:spcAft>
                <a:spcPts val="800"/>
              </a:spcAft>
              <a:defRPr sz="1300">
                <a:solidFill>
                  <a:srgbClr val="A0AEC0"/>
                </a:solidFill>
                <a:latin typeface="Segoe UI"/>
              </a:defRPr>
            </a:pPr>
            <a:r>
              <a:t>• Bypassing AML Thresholds: Splitting large transactions into small micro-deposits just below reporting limits.</a:t>
            </a:r>
          </a:p>
          <a:p>
            <a:pPr>
              <a:defRPr sz="1300">
                <a:solidFill>
                  <a:srgbClr val="A0AEC0"/>
                </a:solidFill>
                <a:latin typeface="Segoe UI"/>
              </a:defRPr>
            </a:pPr>
            <a:r>
              <a:t>• Circular Velocity Loops: Cycling capital sequentially through multiple nodes back to source to create transactional noise.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21208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37160" r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00FF96"/>
                </a:solidFill>
                <a:latin typeface="Segoe UI"/>
              </a:defRPr>
            </a:pPr>
            <a:r>
              <a:t>STRUCTURING / SMURFING  [CRITICAL THREAT]</a:t>
            </a:r>
          </a:p>
          <a:p>
            <a:pPr>
              <a:defRPr sz="1100">
                <a:solidFill>
                  <a:srgbClr val="A0AEC0"/>
                </a:solidFill>
                <a:latin typeface="Segoe UI"/>
              </a:defRPr>
            </a:pPr>
            <a:r>
              <a:t>Breaking transactions down across nested, unverified mule accounts.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926080"/>
            <a:ext cx="521208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37160" r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00FF96"/>
                </a:solidFill>
                <a:latin typeface="Segoe UI"/>
              </a:defRPr>
            </a:pPr>
            <a:r>
              <a:t>SHELL STRATIFICATION  [HIGH RISK]</a:t>
            </a:r>
          </a:p>
          <a:p>
            <a:pPr>
              <a:defRPr sz="1100">
                <a:solidFill>
                  <a:srgbClr val="A0AEC0"/>
                </a:solidFill>
                <a:latin typeface="Segoe UI"/>
              </a:defRPr>
            </a:pPr>
            <a:r>
              <a:t>Layering deposits sequentially across multiple shell corporations.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4389120"/>
            <a:ext cx="521208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37160" r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00FF96"/>
                </a:solidFill>
                <a:latin typeface="Segoe UI"/>
              </a:defRPr>
            </a:pPr>
            <a:r>
              <a:t>CROSS-BORDER CORRIDORS  [OFFSHORE]</a:t>
            </a:r>
          </a:p>
          <a:p>
            <a:pPr>
              <a:defRPr sz="1100">
                <a:solidFill>
                  <a:srgbClr val="A0AEC0"/>
                </a:solidFill>
                <a:latin typeface="Segoe UI"/>
              </a:defRPr>
            </a:pPr>
            <a:r>
              <a:t>Rapid wealth flight traversing secrecy tax havens globally.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00FF96"/>
                </a:solidFill>
                <a:latin typeface="Segoe UI"/>
              </a:defRPr>
            </a:pPr>
            <a:r>
              <a:t>SYSTEM HUD &amp; WORKSPACE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91440" cy="548640"/>
          </a:xfrm>
          <a:prstGeom prst="rect">
            <a:avLst/>
          </a:prstGeom>
          <a:solidFill>
            <a:srgbClr val="00FF96"/>
          </a:solidFill>
          <a:ln>
            <a:solidFill>
              <a:srgbClr val="00F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457200" cy="731520"/>
          </a:xfrm>
          <a:prstGeom prst="rect">
            <a:avLst/>
          </a:prstGeom>
          <a:solidFill>
            <a:srgbClr val="00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F96"/>
                </a:solidFill>
                <a:latin typeface="Segoe UI"/>
              </a:defRPr>
            </a:pPr>
            <a:r>
              <a:t>DUAL INGESTION DESK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Combines instant synthetic AI scenario compilation with manual CSV drag-and-drop ingestion.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457200" cy="731520"/>
          </a:xfrm>
          <a:prstGeom prst="rect">
            <a:avLst/>
          </a:prstGeom>
          <a:solidFill>
            <a:srgbClr val="00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423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F96"/>
                </a:solidFill>
                <a:latin typeface="Segoe UI"/>
              </a:defRPr>
            </a:pPr>
            <a:r>
              <a:t>INTERACTIVE D3 NETWORK MAP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Dynamic force-directed transaction graphs with live node state updates (e.g., normal, suspect, locked).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74720"/>
            <a:ext cx="457200" cy="731520"/>
          </a:xfrm>
          <a:prstGeom prst="rect">
            <a:avLst/>
          </a:prstGeom>
          <a:solidFill>
            <a:srgbClr val="00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383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F96"/>
                </a:solidFill>
                <a:latin typeface="Segoe UI"/>
              </a:defRPr>
            </a:pPr>
            <a:r>
              <a:t>COVERT CYBER INTERCEPTS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OSINT live threat intelligence bulletins combined with real-time audio-frequency wiretap visualizers.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34840"/>
            <a:ext cx="457200" cy="731520"/>
          </a:xfrm>
          <a:prstGeom prst="rect">
            <a:avLst/>
          </a:prstGeom>
          <a:solidFill>
            <a:srgbClr val="00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343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F96"/>
                </a:solidFill>
                <a:latin typeface="Segoe UI"/>
              </a:defRPr>
            </a:pPr>
            <a:r>
              <a:t>HYPERION AI COPILOT DRAWER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Integrated regulatory assistant explaining legal precedents (PMLA Sec 3/4) and proposing mitigation steps.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394960"/>
            <a:ext cx="457200" cy="731520"/>
          </a:xfrm>
          <a:prstGeom prst="rect">
            <a:avLst/>
          </a:prstGeom>
          <a:solidFill>
            <a:srgbClr val="00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303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0FF96"/>
                </a:solidFill>
                <a:latin typeface="Segoe UI"/>
              </a:defRPr>
            </a:pPr>
            <a:r>
              <a:t>DOSSIER EXPORTER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One-click generation of court-admissible PDF prosecution dossiers including case IDs and txn summaries.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00FF96"/>
                </a:solidFill>
                <a:latin typeface="Segoe UI"/>
              </a:defRPr>
            </a:pPr>
            <a:r>
              <a:t>4-STAGE OPERATOR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91440" cy="548640"/>
          </a:xfrm>
          <a:prstGeom prst="rect">
            <a:avLst/>
          </a:prstGeom>
          <a:solidFill>
            <a:srgbClr val="00FF96"/>
          </a:solidFill>
          <a:ln>
            <a:solidFill>
              <a:srgbClr val="00F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46888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bIns="182880" lIns="182880" rIns="182880"/>
          <a:lstStyle/>
          <a:p>
            <a:pPr algn="ctr">
              <a:spcAft>
                <a:spcPts val="1000"/>
              </a:spcAft>
              <a:defRPr sz="3600" b="1">
                <a:solidFill>
                  <a:srgbClr val="00B9FF"/>
                </a:solidFill>
                <a:latin typeface="Courier New"/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1300" b="1">
                <a:solidFill>
                  <a:srgbClr val="00FF96"/>
                </a:solidFill>
                <a:latin typeface="Segoe UI"/>
              </a:defRPr>
            </a:pPr>
            <a:r>
              <a:t>SCENARIO COMPILATION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Operator selects preset cyberthreat scenario. The mathematical generator compiles a randomized transaction network ledger dynamically.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645920"/>
            <a:ext cx="246888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bIns="182880" lIns="182880" rIns="182880"/>
          <a:lstStyle/>
          <a:p>
            <a:pPr algn="ctr">
              <a:spcAft>
                <a:spcPts val="1000"/>
              </a:spcAft>
              <a:defRPr sz="3600" b="1">
                <a:solidFill>
                  <a:srgbClr val="00B9FF"/>
                </a:solidFill>
                <a:latin typeface="Courier New"/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1300" b="1">
                <a:solidFill>
                  <a:srgbClr val="00FF96"/>
                </a:solidFill>
                <a:latin typeface="Segoe UI"/>
              </a:defRPr>
            </a:pPr>
            <a:r>
              <a:t>INTERACTIVE VISUAL AUDIT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Ledger is parsed and visual D3 graphs display the transaction hops. Flagged routes glow in red-alert vectors, showing loops and chains.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246888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bIns="182880" lIns="182880" rIns="182880"/>
          <a:lstStyle/>
          <a:p>
            <a:pPr algn="ctr">
              <a:spcAft>
                <a:spcPts val="1000"/>
              </a:spcAft>
              <a:defRPr sz="3600" b="1">
                <a:solidFill>
                  <a:srgbClr val="00B9FF"/>
                </a:solidFill>
                <a:latin typeface="Courier New"/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1300" b="1">
                <a:solidFill>
                  <a:srgbClr val="00FF96"/>
                </a:solidFill>
                <a:latin typeface="Segoe UI"/>
              </a:defRPr>
            </a:pPr>
            <a:r>
              <a:t>AI COPILOT CONSULTATION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Operator opens the Hyperion AI Forensic Drawer. The assistant flags AML infractions, quotes legal codes, and recommends next-step diagnostics.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1645920"/>
            <a:ext cx="246888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bIns="182880" lIns="182880" rIns="182880"/>
          <a:lstStyle/>
          <a:p>
            <a:pPr algn="ctr">
              <a:spcAft>
                <a:spcPts val="1000"/>
              </a:spcAft>
              <a:defRPr sz="3600" b="1">
                <a:solidFill>
                  <a:srgbClr val="00B9FF"/>
                </a:solidFill>
                <a:latin typeface="Courier New"/>
              </a:defRPr>
            </a:pPr>
            <a:r>
              <a:t>04</a:t>
            </a:r>
          </a:p>
          <a:p>
            <a:pPr>
              <a:spcAft>
                <a:spcPts val="1000"/>
              </a:spcAft>
              <a:defRPr sz="1300" b="1">
                <a:solidFill>
                  <a:srgbClr val="00FF96"/>
                </a:solidFill>
                <a:latin typeface="Segoe UI"/>
              </a:defRPr>
            </a:pPr>
            <a:r>
              <a:t>PROVISIONAL ASSET LOCKING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Operator provisional-freezes mule accounts. Freezing is tracked live on the graph. A secure dossier PDF is exported for law enforcement filing.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00FF96"/>
                </a:solidFill>
                <a:latin typeface="Segoe UI"/>
              </a:defRPr>
            </a:pPr>
            <a:r>
              <a:t>TECHNICAL TOOLSTACK &amp; INTEGRATIONS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91440" cy="548640"/>
          </a:xfrm>
          <a:prstGeom prst="rect">
            <a:avLst/>
          </a:prstGeom>
          <a:solidFill>
            <a:srgbClr val="00FF96"/>
          </a:solidFill>
          <a:ln>
            <a:solidFill>
              <a:srgbClr val="00F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21208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09728" rIns="109728"/>
          <a:lstStyle/>
          <a:p>
            <a:pPr algn="ctr">
              <a:spcAft>
                <a:spcPts val="300"/>
              </a:spcAft>
              <a:defRPr sz="1200" b="1">
                <a:solidFill>
                  <a:srgbClr val="00B9FF"/>
                </a:solidFill>
                <a:latin typeface="Segoe UI"/>
              </a:defRPr>
            </a:pPr>
            <a:r>
              <a:t>REACT 18 &amp; TYPESCRIPT - Core UI Layer</a:t>
            </a:r>
          </a:p>
          <a:p>
            <a:pPr>
              <a:defRPr sz="1050">
                <a:solidFill>
                  <a:srgbClr val="A0AEC0"/>
                </a:solidFill>
                <a:latin typeface="Segoe UI"/>
              </a:defRPr>
            </a:pPr>
            <a:r>
              <a:t>Enables type-safe, reactive state tracking of transaction logs, simulation ticks, and system dashboard widgets.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51760"/>
            <a:ext cx="521208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09728" rIns="109728"/>
          <a:lstStyle/>
          <a:p>
            <a:pPr algn="ctr">
              <a:spcAft>
                <a:spcPts val="300"/>
              </a:spcAft>
              <a:defRPr sz="1200" b="1">
                <a:solidFill>
                  <a:srgbClr val="00B9FF"/>
                </a:solidFill>
                <a:latin typeface="Segoe UI"/>
              </a:defRPr>
            </a:pPr>
            <a:r>
              <a:t>VITE ENGINE - Compilation Tooling</a:t>
            </a:r>
          </a:p>
          <a:p>
            <a:pPr>
              <a:defRPr sz="1050">
                <a:solidFill>
                  <a:srgbClr val="A0AEC0"/>
                </a:solidFill>
                <a:latin typeface="Segoe UI"/>
              </a:defRPr>
            </a:pPr>
            <a:r>
              <a:t>Provides instant sub-second module replacement during active development, ensuring stable production compilation.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840480"/>
            <a:ext cx="521208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09728" rIns="109728"/>
          <a:lstStyle/>
          <a:p>
            <a:pPr algn="ctr">
              <a:spcAft>
                <a:spcPts val="300"/>
              </a:spcAft>
              <a:defRPr sz="1200" b="1">
                <a:solidFill>
                  <a:srgbClr val="00B9FF"/>
                </a:solidFill>
                <a:latin typeface="Segoe UI"/>
              </a:defRPr>
            </a:pPr>
            <a:r>
              <a:t>VANILLA CSS &amp; TAILWIND - HUD Interface Design</a:t>
            </a:r>
          </a:p>
          <a:p>
            <a:pPr>
              <a:defRPr sz="1050">
                <a:solidFill>
                  <a:srgbClr val="A0AEC0"/>
                </a:solidFill>
                <a:latin typeface="Segoe UI"/>
              </a:defRPr>
            </a:pPr>
            <a:r>
              <a:t>Glassmorphic cyber-aesthetic, glowing warning overlays, matrix grid animations, and dark-themed components.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029200"/>
            <a:ext cx="521208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09728" rIns="109728"/>
          <a:lstStyle/>
          <a:p>
            <a:pPr algn="ctr">
              <a:spcAft>
                <a:spcPts val="300"/>
              </a:spcAft>
              <a:defRPr sz="1200" b="1">
                <a:solidFill>
                  <a:srgbClr val="00B9FF"/>
                </a:solidFill>
                <a:latin typeface="Segoe UI"/>
              </a:defRPr>
            </a:pPr>
            <a:r>
              <a:t>D3 FORCE-DIRECTED GRAPH - Visualization API</a:t>
            </a:r>
          </a:p>
          <a:p>
            <a:pPr>
              <a:defRPr sz="1050">
                <a:solidFill>
                  <a:srgbClr val="A0AEC0"/>
                </a:solidFill>
                <a:latin typeface="Segoe UI"/>
              </a:defRPr>
            </a:pPr>
            <a:r>
              <a:t>Calculates force physics models for nodes, drawing transactional connections, structured paths, and cycles.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21208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09728" rIns="109728"/>
          <a:lstStyle/>
          <a:p>
            <a:pPr algn="ctr">
              <a:spcAft>
                <a:spcPts val="300"/>
              </a:spcAft>
              <a:defRPr sz="1200" b="1">
                <a:solidFill>
                  <a:srgbClr val="00B9FF"/>
                </a:solidFill>
                <a:latin typeface="Segoe UI"/>
              </a:defRPr>
            </a:pPr>
            <a:r>
              <a:t>WEB AUDIO API CONTEXT - Auditory Alert Warning</a:t>
            </a:r>
          </a:p>
          <a:p>
            <a:pPr>
              <a:defRPr sz="1050">
                <a:solidFill>
                  <a:srgbClr val="A0AEC0"/>
                </a:solidFill>
                <a:latin typeface="Segoe UI"/>
              </a:defRPr>
            </a:pPr>
            <a:r>
              <a:t>Simulates realistic cyber operations environment by generating frequency oscillation alarm sounds on high-risk detections.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651760"/>
            <a:ext cx="521208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09728" rIns="109728"/>
          <a:lstStyle/>
          <a:p>
            <a:pPr algn="ctr">
              <a:spcAft>
                <a:spcPts val="300"/>
              </a:spcAft>
              <a:defRPr sz="1200" b="1">
                <a:solidFill>
                  <a:srgbClr val="00B9FF"/>
                </a:solidFill>
                <a:latin typeface="Segoe UI"/>
              </a:defRPr>
            </a:pPr>
            <a:r>
              <a:t>SUPABASE EDGE FUNCTIONS - Ingestion API &amp; Auth</a:t>
            </a:r>
          </a:p>
          <a:p>
            <a:pPr>
              <a:defRPr sz="1050">
                <a:solidFill>
                  <a:srgbClr val="A0AEC0"/>
                </a:solidFill>
                <a:latin typeface="Segoe UI"/>
              </a:defRPr>
            </a:pPr>
            <a:r>
              <a:t>Powers secure user verification, tokenized sessions, and the background analytical ledger execution services.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840480"/>
            <a:ext cx="521208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09728" rIns="109728"/>
          <a:lstStyle/>
          <a:p>
            <a:pPr algn="ctr">
              <a:spcAft>
                <a:spcPts val="300"/>
              </a:spcAft>
              <a:defRPr sz="1200" b="1">
                <a:solidFill>
                  <a:srgbClr val="00B9FF"/>
                </a:solidFill>
                <a:latin typeface="Segoe UI"/>
              </a:defRPr>
            </a:pPr>
            <a:r>
              <a:t>JSPDF DOSSIER COMPILER - Prosecution Reporting</a:t>
            </a:r>
          </a:p>
          <a:p>
            <a:pPr>
              <a:defRPr sz="1050">
                <a:solidFill>
                  <a:srgbClr val="A0AEC0"/>
                </a:solidFill>
                <a:latin typeface="Segoe UI"/>
              </a:defRPr>
            </a:pPr>
            <a:r>
              <a:t>Compiles graphic network vectors, transaction rows, and compliance indices into print-ready prosecution PDFs.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00FF96"/>
                </a:solidFill>
                <a:latin typeface="Segoe UI"/>
              </a:defRPr>
            </a:pPr>
            <a:r>
              <a:t>PLATFORM ADVANTAGES &amp; DEMO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91440" cy="548640"/>
          </a:xfrm>
          <a:prstGeom prst="rect">
            <a:avLst/>
          </a:prstGeom>
          <a:solidFill>
            <a:srgbClr val="00FF96"/>
          </a:solidFill>
          <a:ln>
            <a:solidFill>
              <a:srgbClr val="00F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12080" cy="2103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bIns="182880" lIns="182880" r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0FF96"/>
                </a:solidFill>
                <a:latin typeface="Segoe UI"/>
              </a:defRPr>
            </a:pPr>
            <a:r>
              <a:t>SOLVES THE 'COLD-START' DEMONSTRATION PROBLEM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Traditional analytics panels sit empty until linked to a live bank database, hindering prototype walkthroughs. Mule Sentinel resolves this by building complex, mathematical fraud datasets directly in the client, enabling immediate interactive visual runs.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023360"/>
            <a:ext cx="5212080" cy="2103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bIns="182880" lIns="182880" r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0B9FF"/>
                </a:solidFill>
                <a:latin typeface="Segoe UI"/>
              </a:defRPr>
            </a:pPr>
            <a:r>
              <a:t>CO-DEVELOPER MODE (FORENSIC TRAINING TERMINAL)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By integrating the AI Copilot Drawer directly into graph assets and linking transactions to legal frameworks (PMLA, FATF travel rules), the engine serves as an interactive learning workspace for investigators.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2103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bIns="182880" lIns="182880" r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0FF96"/>
                </a:solidFill>
                <a:latin typeface="Segoe UI"/>
              </a:defRPr>
            </a:pPr>
            <a:r>
              <a:t>HIGH-FIDELITY OPERATIONS ENVIRONMENT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Covert intercepts (live wiretap oscilloscope waveforms, retro command terminal overlays, OSINT logs, warning sound alarms) elevate the UX, making the tool feel like a live financial crime command room rather than a flat spreadsheet.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4023360"/>
            <a:ext cx="5212080" cy="2103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bIns="182880" lIns="182880" r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0B9FF"/>
                </a:solidFill>
                <a:latin typeface="Segoe UI"/>
              </a:defRPr>
            </a:pPr>
            <a:r>
              <a:t>ABSOLUTE SYSTEM HEALTH &amp; MODULAR BUILD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Zero external dependency bloat. Maintained under rigid TypeScript configurations, ensuring sub-second Vite dev reloads, type safety, and clean production builds.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00FF96"/>
                </a:solidFill>
                <a:latin typeface="Segoe UI"/>
              </a:defRPr>
            </a:pPr>
            <a:r>
              <a:t>FUTURE SCOPE &amp; COMMERCIAL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38912"/>
            <a:ext cx="91440" cy="548640"/>
          </a:xfrm>
          <a:prstGeom prst="rect">
            <a:avLst/>
          </a:prstGeom>
          <a:solidFill>
            <a:srgbClr val="00FF96"/>
          </a:solidFill>
          <a:ln>
            <a:solidFill>
              <a:srgbClr val="00F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46888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bIns="182880" lIns="182880" rIns="182880"/>
          <a:lstStyle/>
          <a:p>
            <a:pPr algn="ctr">
              <a:spcAft>
                <a:spcPts val="1500"/>
              </a:spcAft>
              <a:defRPr sz="1100" b="1">
                <a:solidFill>
                  <a:srgbClr val="00B9FF"/>
                </a:solidFill>
                <a:latin typeface="Courier New"/>
              </a:defRPr>
            </a:pPr>
            <a:r>
              <a:t>01 / DEFINGEST</a:t>
            </a:r>
          </a:p>
          <a:p>
            <a:pPr>
              <a:spcAft>
                <a:spcPts val="1000"/>
              </a:spcAft>
              <a:defRPr sz="1300" b="1">
                <a:solidFill>
                  <a:srgbClr val="00FF96"/>
                </a:solidFill>
                <a:latin typeface="Segoe UI"/>
              </a:defRPr>
            </a:pPr>
            <a:r>
              <a:t>MULTI-CHAIN CRYPTOCURRENCY TRACKING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Expand ingestion desks to trace virtual assets crossing decentralized mixers (e.g., Tornado Cash), smart contracts, and cross-chain wrapping bridges.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645920"/>
            <a:ext cx="246888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bIns="182880" lIns="182880" rIns="182880"/>
          <a:lstStyle/>
          <a:p>
            <a:pPr algn="ctr">
              <a:spcAft>
                <a:spcPts val="1500"/>
              </a:spcAft>
              <a:defRPr sz="1100" b="1">
                <a:solidFill>
                  <a:srgbClr val="00B9FF"/>
                </a:solidFill>
                <a:latin typeface="Courier New"/>
              </a:defRPr>
            </a:pPr>
            <a:r>
              <a:t>02 / FEDSECURE</a:t>
            </a:r>
          </a:p>
          <a:p>
            <a:pPr>
              <a:spcAft>
                <a:spcPts val="1000"/>
              </a:spcAft>
              <a:defRPr sz="1300" b="1">
                <a:solidFill>
                  <a:srgbClr val="00FF96"/>
                </a:solidFill>
                <a:latin typeface="Segoe UI"/>
              </a:defRPr>
            </a:pPr>
            <a:r>
              <a:t>DECENTRALIZED FEDERATED LEARNING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Employ federated aggregation models to trace mule accounts across collaborative banking networks without exposing sensitive customer PII records.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246888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bIns="182880" lIns="182880" rIns="182880"/>
          <a:lstStyle/>
          <a:p>
            <a:pPr algn="ctr">
              <a:spcAft>
                <a:spcPts val="1500"/>
              </a:spcAft>
              <a:defRPr sz="1100" b="1">
                <a:solidFill>
                  <a:srgbClr val="00B9FF"/>
                </a:solidFill>
                <a:latin typeface="Courier New"/>
              </a:defRPr>
            </a:pPr>
            <a:r>
              <a:t>03 / COMPLIANCE</a:t>
            </a:r>
          </a:p>
          <a:p>
            <a:pPr>
              <a:spcAft>
                <a:spcPts val="1000"/>
              </a:spcAft>
              <a:defRPr sz="1300" b="1">
                <a:solidFill>
                  <a:srgbClr val="00FF96"/>
                </a:solidFill>
                <a:latin typeface="Segoe UI"/>
              </a:defRPr>
            </a:pPr>
            <a:r>
              <a:t>AUTOMATED SAR FILING PIPELINES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Establish automated APIs to pre-populate and directly transmit Suspicious Activity Reports (SAR) directly to National Financial Intelligence Units.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1645920"/>
            <a:ext cx="2468880" cy="438912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bIns="182880" lIns="182880" rIns="182880"/>
          <a:lstStyle/>
          <a:p>
            <a:pPr algn="ctr">
              <a:spcAft>
                <a:spcPts val="1500"/>
              </a:spcAft>
              <a:defRPr sz="1100" b="1">
                <a:solidFill>
                  <a:srgbClr val="00B9FF"/>
                </a:solidFill>
                <a:latin typeface="Courier New"/>
              </a:defRPr>
            </a:pPr>
            <a:r>
              <a:t>04 / VECSEARCH</a:t>
            </a:r>
          </a:p>
          <a:p>
            <a:pPr>
              <a:spcAft>
                <a:spcPts val="1000"/>
              </a:spcAft>
              <a:defRPr sz="1300" b="1">
                <a:solidFill>
                  <a:srgbClr val="00FF96"/>
                </a:solidFill>
                <a:latin typeface="Segoe UI"/>
              </a:defRPr>
            </a:pPr>
            <a:r>
              <a:t>NATURAL LANGUAGE VECTOR SEARCH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Allow investigators to execute natural language queries (e.g., 'Find accounts in Mumbai with deposits under 10k last Friday') using pgvector embeddings.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solidFill>
            <a:srgbClr val="0F172A"/>
          </a:solidFill>
          <a:ln w="25400">
            <a:solidFill>
              <a:srgbClr val="00F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bIns="365760" lIns="365760" rIns="365760"/>
          <a:lstStyle/>
          <a:p>
            <a:pPr algn="ctr">
              <a:spcAft>
                <a:spcPts val="1000"/>
              </a:spcAft>
              <a:defRPr sz="5600">
                <a:solidFill>
                  <a:srgbClr val="00FF96"/>
                </a:solidFill>
                <a:latin typeface="Impact"/>
              </a:defRPr>
            </a:pPr>
            <a:r>
              <a:t>MULE SENTINEL</a:t>
            </a:r>
          </a:p>
          <a:p>
            <a:pPr algn="ctr">
              <a:spcAft>
                <a:spcPts val="2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🛡️ END OF PRESENTATION // Q&amp;A SESSION</a:t>
            </a:r>
          </a:p>
          <a:p>
            <a:pPr algn="ctr">
              <a:defRPr sz="1400">
                <a:solidFill>
                  <a:srgbClr val="A0AEC0"/>
                </a:solidFill>
                <a:latin typeface="Segoe UI"/>
              </a:defRPr>
            </a:pPr>
            <a:r>
              <a:t>Thank you for reviewing the Mule Sentinel money muling detection platform.</a:t>
            </a:r>
            <a:br/>
            <a:r>
              <a:t>Let's open the floor for discussions regarding structural threat tracking, compliance integration, and DeFi transaction ingesting.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